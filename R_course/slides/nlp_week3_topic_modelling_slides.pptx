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3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AAF9F"/>
          </a:solidFill>
          <a:ln w="12700">
            <a:solidFill>
              <a:srgbClr val="2AA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7A8C">
              <a:alpha val="30000"/>
            </a:srgbClr>
          </a:solidFill>
          <a:ln w="12700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2AAF9F">
              <a:alpha val="40000"/>
            </a:srgbClr>
          </a:solidFill>
          <a:ln w="12700">
            <a:solidFill>
              <a:srgbClr val="2AA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Modelling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Social Scientists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Structural Topic Model · Practical Steps in 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for Social Scientists · Week 3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Bence Ságvári · Corvinus University of Budapest ·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Topic Model?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776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566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model reads a large collection of texts and automatically discovers the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themes,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you telling it what to look for.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is modelled as a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topics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is a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 over words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4160520" cy="3200400"/>
          </a:xfrm>
          <a:prstGeom prst="rect">
            <a:avLst/>
          </a:prstGeom>
          <a:solidFill>
            <a:srgbClr val="D6EAF0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411480" cy="411480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20574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newspaper edition covers politics, sports, and economics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1480" cy="411480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8803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presidential speech covers security, the economy, and reform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411480" cy="411480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37033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model finds these themes automatically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· Unsupervised · Exploratory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Topic Modelling Fits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508760"/>
            <a:ext cx="640080" cy="640080"/>
          </a:xfrm>
          <a:prstGeom prst="ellipse">
            <a:avLst/>
          </a:prstGeom>
          <a:solidFill>
            <a:srgbClr val="2D9E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tf-idf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rank words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groups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2888" y="137160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508760"/>
            <a:ext cx="640080" cy="640080"/>
          </a:xfrm>
          <a:prstGeom prst="ellipse">
            <a:avLst/>
          </a:prstGeom>
          <a:solidFill>
            <a:srgbClr val="7B4F9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72968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24328" y="2304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&amp; Sentiment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24328" y="2944368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supply the word list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counts matches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1371600"/>
            <a:ext cx="1920240" cy="3291840"/>
          </a:xfrm>
          <a:prstGeom prst="rect">
            <a:avLst/>
          </a:prstGeom>
          <a:solidFill>
            <a:srgbClr val="1E3A5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94376" y="1508760"/>
            <a:ext cx="640080" cy="640080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94376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45736" y="2304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A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2944368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discovers themes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interpret them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75704" y="137160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15784" y="1508760"/>
            <a:ext cx="640080" cy="640080"/>
          </a:xfrm>
          <a:prstGeom prst="ellipse">
            <a:avLst/>
          </a:prstGeom>
          <a:solidFill>
            <a:srgbClr val="E08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15784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67144" y="2304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67144" y="2944368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supply labelled examples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rules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3017520"/>
            <a:ext cx="246888" cy="0"/>
          </a:xfrm>
          <a:prstGeom prst="line">
            <a:avLst/>
          </a:prstGeom>
          <a:noFill/>
          <a:ln w="19050">
            <a:solidFill>
              <a:srgbClr val="5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07408" y="3017520"/>
            <a:ext cx="246888" cy="0"/>
          </a:xfrm>
          <a:prstGeom prst="line">
            <a:avLst/>
          </a:prstGeom>
          <a:noFill/>
          <a:ln w="19050">
            <a:solidFill>
              <a:srgbClr val="5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28816" y="3017520"/>
            <a:ext cx="246888" cy="0"/>
          </a:xfrm>
          <a:prstGeom prst="line">
            <a:avLst/>
          </a:prstGeom>
          <a:noFill/>
          <a:ln w="19050">
            <a:solidFill>
              <a:srgbClr val="5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more deductive           more inductive →</a:t>
            </a:r>
            <a:endParaRPr lang="en-US" sz="1000" dirty="0"/>
          </a:p>
        </p:txBody>
      </p:sp>
      <p:sp>
        <p:nvSpPr>
          <p:cNvPr id="29" name="Rounded Rectangular Callout 28">
            <a:extLst>
              <a:ext uri="{FF2B5EF4-FFF2-40B4-BE49-F238E27FC236}">
                <a16:creationId xmlns:a16="http://schemas.microsoft.com/office/drawing/2014/main" id="{CC523829-EBFD-9FBB-C63E-52610627930D}"/>
              </a:ext>
            </a:extLst>
          </p:cNvPr>
          <p:cNvSpPr/>
          <p:nvPr/>
        </p:nvSpPr>
        <p:spPr>
          <a:xfrm>
            <a:off x="173717" y="3851135"/>
            <a:ext cx="3035846" cy="1159777"/>
          </a:xfrm>
          <a:prstGeom prst="wedgeRoundRectCallout">
            <a:avLst>
              <a:gd name="adj1" fmla="val 57996"/>
              <a:gd name="adj2" fmla="val 33646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You let the data reveal structure without prior categories. Patterns emerge from the corpus itself; interpretation comes after. </a:t>
            </a:r>
          </a:p>
          <a:p>
            <a:pPr algn="ctr"/>
            <a:r>
              <a:rPr lang="en-US" sz="900" i="1" dirty="0"/>
              <a:t>Example: a topic model surfaces a cluster of co-occurring words that you then label "crisis rhetoric" — the pattern led you to the concept, not the other way around.</a:t>
            </a:r>
          </a:p>
        </p:txBody>
      </p: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AA268E1B-4E7C-E727-096A-9781A1D9865C}"/>
              </a:ext>
            </a:extLst>
          </p:cNvPr>
          <p:cNvSpPr/>
          <p:nvPr/>
        </p:nvSpPr>
        <p:spPr>
          <a:xfrm>
            <a:off x="5833929" y="3836021"/>
            <a:ext cx="3035846" cy="1159777"/>
          </a:xfrm>
          <a:prstGeom prst="wedgeRoundRectCallout">
            <a:avLst>
              <a:gd name="adj1" fmla="val -55763"/>
              <a:gd name="adj2" fmla="val 37556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You start with a theory or concept and build a measure to test it. The idea comes first; the data confirms or disconfirms it. </a:t>
            </a:r>
            <a:r>
              <a:rPr lang="en-US" sz="900" i="1" dirty="0"/>
              <a:t>Example: you define a "crisis language" dictionary because you have a theory about how politicians respond to economic shocks.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LDA: How Documents Are (Imagined to Be) Written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20240" cy="1424499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1920240" cy="41148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Topics exist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set of themes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e.g. ‘Economy’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‘Security’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371600"/>
            <a:ext cx="1920240" cy="1424499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32888" y="1371600"/>
            <a:ext cx="1920240" cy="411480"/>
          </a:xfrm>
          <a:prstGeom prst="rect">
            <a:avLst/>
          </a:prstGeom>
          <a:solidFill>
            <a:srgbClr val="2D9E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78608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Topics = word lists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24328" y="18745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assigns high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to 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words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54296" y="1371600"/>
            <a:ext cx="1920240" cy="1424499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54296" y="1371600"/>
            <a:ext cx="1920240" cy="411480"/>
          </a:xfrm>
          <a:prstGeom prst="rect">
            <a:avLst/>
          </a:prstGeom>
          <a:solidFill>
            <a:srgbClr val="7B4F9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0016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Each doc mixes topics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5736" y="18745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speech might 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Economy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Security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Reform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75704" y="1371600"/>
            <a:ext cx="1920240" cy="1424499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75704" y="1371600"/>
            <a:ext cx="1920240" cy="411480"/>
          </a:xfrm>
          <a:prstGeom prst="rect">
            <a:avLst/>
          </a:prstGeom>
          <a:solidFill>
            <a:srgbClr val="E08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21424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Words are generated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67144" y="18745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is drawn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whichever topic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active that moment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887540"/>
            <a:ext cx="8321040" cy="19587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121051"/>
            <a:ext cx="8138160" cy="172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(Latent Dirichlet Allocation)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statistical model that reads a collection of documents and automatically discovers recurring themes — without being told what to look for.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from a simple assumption: </a:t>
            </a: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is a mixture of topics, and every topic is a distribution of words.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latent is the key: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topics are hidden. We never see them directly — we only see the words. LDA's job is to recover the hidden structure that most plausibly generated what we observe.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you need to supply: the </a:t>
            </a: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number of </a:t>
            </a: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K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Everything else is learned from the data.</a:t>
            </a:r>
          </a:p>
          <a:p>
            <a:pPr marL="0" indent="0">
              <a:spcAft>
                <a:spcPts val="12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LDA Output Looks Like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514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514600" cy="36576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 — Economy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· jobs · growth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· industry · wages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· invest · market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514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514600" cy="365760"/>
          </a:xfrm>
          <a:prstGeom prst="rect">
            <a:avLst/>
          </a:prstGeom>
          <a:solidFill>
            <a:srgbClr val="7B4F9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 —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· military · allies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· peace · nuclear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· army · nation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371600"/>
            <a:ext cx="2514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89320" y="1371600"/>
            <a:ext cx="2514600" cy="365760"/>
          </a:xfrm>
          <a:prstGeom prst="rect">
            <a:avLst/>
          </a:prstGeom>
          <a:solidFill>
            <a:srgbClr val="E08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 — Reform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18288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· rights · education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welfare · people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· progress · care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7947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Obama 2009 SOTU — estimated topic mixture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160520"/>
            <a:ext cx="4326941" cy="41148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42355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38421" y="4160520"/>
            <a:ext cx="2329891" cy="411480"/>
          </a:xfrm>
          <a:prstGeom prst="rect">
            <a:avLst/>
          </a:prstGeom>
          <a:solidFill>
            <a:srgbClr val="7B4F9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84141" y="4160520"/>
            <a:ext cx="22384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68312" y="4160520"/>
            <a:ext cx="1664208" cy="411480"/>
          </a:xfrm>
          <a:prstGeom prst="rect">
            <a:avLst/>
          </a:prstGeom>
          <a:solidFill>
            <a:srgbClr val="E08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14032" y="41605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address gets its own mixture vector — this is what we analyse as social scientists.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LDA → STM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LDA Cannot Do — and Why We Need STM </a:t>
            </a: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(structural topic modelling)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[x]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metadata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8105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treats every document as interchangeable. It cannot model why a Republican president uses different topics than a Democratic one, or why topics shift after a financial crisis.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94960" y="1554480"/>
            <a:ext cx="3154680" cy="594360"/>
          </a:xfrm>
          <a:prstGeom prst="rect">
            <a:avLst/>
          </a:prstGeom>
          <a:solidFill>
            <a:srgbClr val="D6EAF0"/>
          </a:solidFill>
          <a:ln w="6350">
            <a:solidFill>
              <a:srgbClr val="B5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0" y="1554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STM fix: topic prevalence varies with party, year, or any covariate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15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[?]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assumed independent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assumes topics do not correlate. In reality, speeches about 'fiscal policy' often also discuss 'welfare' — the model misses this co-occurrence structure.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697480"/>
            <a:ext cx="3154680" cy="594360"/>
          </a:xfrm>
          <a:prstGeom prst="rect">
            <a:avLst/>
          </a:prstGeom>
          <a:solidFill>
            <a:srgbClr val="D6EAF0"/>
          </a:solidFill>
          <a:ln w="6350">
            <a:solidFill>
              <a:srgbClr val="B5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2697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STM fix: topics can correlate through a shared covariance structure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[K]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must be chosen manually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0965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tell LDA how many topics to find. Too few: distinct themes merge. Too many: one theme splits into near-identical duplicates.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3840480"/>
            <a:ext cx="3154680" cy="594360"/>
          </a:xfrm>
          <a:prstGeom prst="rect">
            <a:avLst/>
          </a:prstGeom>
          <a:solidFill>
            <a:srgbClr val="D6EAF0"/>
          </a:solidFill>
          <a:ln w="6350">
            <a:solidFill>
              <a:srgbClr val="B5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0" y="3840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STM fix: searchK() diagnostics guide the choice with statistical evidence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Topic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extended for social science — topics connected to the social structure of the corpus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2606040" cy="1958403"/>
          </a:xfrm>
          <a:prstGeom prst="rect">
            <a:avLst/>
          </a:prstGeom>
          <a:solidFill>
            <a:srgbClr val="1A3352"/>
          </a:solidFill>
          <a:ln w="635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2606040" cy="7315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covariates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proportion of each topic varies with document metadata. A Republican address in wartime is expected to draw more heavily on the Security topic than a Democratic address during economic recovery.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06040" cy="1958403"/>
          </a:xfrm>
          <a:prstGeom prst="rect">
            <a:avLst/>
          </a:prstGeom>
          <a:solidFill>
            <a:srgbClr val="1A3352"/>
          </a:solidFill>
          <a:ln w="635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606040" cy="73152"/>
          </a:xfrm>
          <a:prstGeom prst="rect">
            <a:avLst/>
          </a:prstGeom>
          <a:solidFill>
            <a:srgbClr val="2AAF9F"/>
          </a:solidFill>
          <a:ln w="12700">
            <a:solidFill>
              <a:srgbClr val="2AA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810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covariates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associated with a topic can differ across groups. Both Republicans and Democrats may discuss 'the economy' — but with different vocabulary choices that reflect their ideological framing.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691640"/>
            <a:ext cx="2606040" cy="1958403"/>
          </a:xfrm>
          <a:prstGeom prst="rect">
            <a:avLst/>
          </a:prstGeom>
          <a:solidFill>
            <a:srgbClr val="1A3352"/>
          </a:solidFill>
          <a:ln w="635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2606040" cy="73152"/>
          </a:xfrm>
          <a:prstGeom prst="rect">
            <a:avLst/>
          </a:prstGeom>
          <a:solidFill>
            <a:srgbClr val="E08B2D"/>
          </a:solidFill>
          <a:ln w="12700">
            <a:solidFill>
              <a:srgbClr val="E08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810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estimation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 treats topic proportions as outcome variables in a regression. You get point estimates and confidence intervals for the effect of party, year, or any metadata variable on each topic.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8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Roberts, Stewart &amp; Tingley (2019) · Journal of Statistical Software</a:t>
            </a:r>
            <a:endParaRPr 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D6BE9C-A3B3-D7B6-AF2E-C0758D61DA28}"/>
              </a:ext>
            </a:extLst>
          </p:cNvPr>
          <p:cNvSpPr txBox="1"/>
          <p:nvPr/>
        </p:nvSpPr>
        <p:spPr>
          <a:xfrm>
            <a:off x="320040" y="3823227"/>
            <a:ext cx="8412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The </a:t>
            </a:r>
            <a:r>
              <a:rPr lang="en-US" sz="1100" b="1" dirty="0">
                <a:solidFill>
                  <a:schemeClr val="bg1"/>
                </a:solidFill>
              </a:rPr>
              <a:t>Structural Topic Model </a:t>
            </a:r>
            <a:r>
              <a:rPr lang="en-US" sz="1100" dirty="0">
                <a:solidFill>
                  <a:schemeClr val="bg1"/>
                </a:solidFill>
              </a:rPr>
              <a:t>(Roberts, Stewart &amp; Tingley, 2019) extends LDA by incorporating document-level metadata directly into the generative process. Where LDA assumes a single corpus-wide prior on topic proportions, STM allows that prior to vary as a function of observed covariates — party affiliation, publication date, speaker role, or any other document-level variable — through a logistic-normal regression on the topic simplex.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STM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STM Pipeline — Six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3977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" y="1536192"/>
            <a:ext cx="566928" cy="566928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textProcessor()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Tokenise, remove stopwords, 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3977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1208" y="2651760"/>
            <a:ext cx="566928" cy="566928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5603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prepDocuments()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94436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rare words, build vocabulary index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602736"/>
            <a:ext cx="3977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3767328"/>
            <a:ext cx="566928" cy="566928"/>
          </a:xfrm>
          <a:prstGeom prst="ellipse">
            <a:avLst/>
          </a:prstGeom>
          <a:solidFill>
            <a:srgbClr val="7B4F9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3767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6758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searchK()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05993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models at multiple K values, plot diagnostics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371600"/>
            <a:ext cx="3977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18888" y="1536192"/>
            <a:ext cx="566928" cy="56692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14447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18288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model with prevalence covariates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487168"/>
            <a:ext cx="3977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18888" y="2651760"/>
            <a:ext cx="566928" cy="566928"/>
          </a:xfrm>
          <a:prstGeom prst="ellipse">
            <a:avLst/>
          </a:prstGeom>
          <a:solidFill>
            <a:srgbClr val="2D9E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18888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25603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labelTopics()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findThoughts()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294436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FREX words · read representative documents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3977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18888" y="3767328"/>
            <a:ext cx="566928" cy="566928"/>
          </a:xfrm>
          <a:prstGeom prst="ellipse">
            <a:avLst/>
          </a:prstGeom>
          <a:solidFill>
            <a:srgbClr val="E08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18888" y="3767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0" y="36758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estimateEffect()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405993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topic proportions on party, year, etc.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CHOOSING 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Topics? Choosing 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 vs Semantic Coherence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0" cy="2651760"/>
          </a:xfrm>
          <a:prstGeom prst="line">
            <a:avLst/>
          </a:prstGeom>
          <a:noFill/>
          <a:ln w="12700">
            <a:solidFill>
              <a:srgbClr val="5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3566160" cy="0"/>
          </a:xfrm>
          <a:prstGeom prst="line">
            <a:avLst/>
          </a:prstGeom>
          <a:noFill/>
          <a:ln w="12700">
            <a:solidFill>
              <a:srgbClr val="5D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 rot="16200000">
            <a:off x="475488" y="2834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4572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Coherence →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50392" y="4005072"/>
            <a:ext cx="310896" cy="310896"/>
          </a:xfrm>
          <a:prstGeom prst="ellipse">
            <a:avLst/>
          </a:prstGeom>
          <a:solidFill>
            <a:srgbClr val="BBCC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325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16152" y="3502152"/>
            <a:ext cx="310896" cy="310896"/>
          </a:xfrm>
          <a:prstGeom prst="ellipse">
            <a:avLst/>
          </a:prstGeom>
          <a:solidFill>
            <a:srgbClr val="BBCC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82219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47672" y="3090672"/>
            <a:ext cx="310896" cy="310896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74520" y="34107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96312" y="2999232"/>
            <a:ext cx="310896" cy="310896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33192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53512" y="3136392"/>
            <a:ext cx="310896" cy="310896"/>
          </a:xfrm>
          <a:prstGeom prst="ellipse">
            <a:avLst/>
          </a:prstGeom>
          <a:solidFill>
            <a:srgbClr val="BBCC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80360" y="34564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02152" y="3502152"/>
            <a:ext cx="310896" cy="310896"/>
          </a:xfrm>
          <a:prstGeom prst="ellipse">
            <a:avLst/>
          </a:prstGeom>
          <a:solidFill>
            <a:srgbClr val="BBCC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382219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0" y="2926080"/>
            <a:ext cx="1234440" cy="731520"/>
          </a:xfrm>
          <a:prstGeom prst="ellipse">
            <a:avLst/>
          </a:prstGeom>
          <a:solidFill>
            <a:srgbClr val="2AAF9F">
              <a:alpha val="25000"/>
            </a:srgbClr>
          </a:solidFill>
          <a:ln w="19050">
            <a:solidFill>
              <a:srgbClr val="2AA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74520" y="29718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137160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1481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thumb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2011680"/>
            <a:ext cx="347472" cy="347472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19202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coherence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216712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co-occur in the same docs — the topic is internally consistent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83480" y="2816352"/>
            <a:ext cx="347472" cy="347472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7249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exclusivity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0680" y="29718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are unique to this topic — it is distinct from others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83480" y="3621024"/>
            <a:ext cx="347472" cy="347472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8348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35295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377647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with findThoughts() — a statistically optimal K can still yield uninterpretable topics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83480" y="4425696"/>
            <a:ext cx="347472" cy="347472"/>
          </a:xfrm>
          <a:prstGeom prst="ellipse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8348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40680" y="43342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0680" y="458114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K minus 3 and K plus 3. If topics merge or split meaningfully, your K is in the right range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INTERPRETATION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Topics: From Words to Meaning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labelTopics() — four word lists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777240" cy="274320"/>
          </a:xfrm>
          <a:prstGeom prst="rect">
            <a:avLst/>
          </a:prstGeom>
          <a:solidFill>
            <a:srgbClr val="5D7A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prob.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19019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words in the topic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often too generic ('government', 'people')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7772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 AND exclusive to this topic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usually the most diagnostic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419856"/>
            <a:ext cx="777240" cy="274320"/>
          </a:xfrm>
          <a:prstGeom prst="rect">
            <a:avLst/>
          </a:prstGeom>
          <a:solidFill>
            <a:srgbClr val="7B4F9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4198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63040" y="34015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unusually more likely here than elsewhere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good for rare but distinctive terms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9664"/>
            <a:ext cx="777240" cy="27432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169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0" y="41513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measure — use as a tiebreaker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4023360" cy="3474720"/>
          </a:xfrm>
          <a:prstGeom prst="rect">
            <a:avLst/>
          </a:prstGeom>
          <a:solidFill>
            <a:srgbClr val="D6EAF0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findThoughts() — read the documents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topic, retrieve the 2–3 documents with the highest estimated proportion of that topic.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them. Ask yourself: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Does this text actually discuss what I labelled the topic?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Are there false positives — texts that match on words but not meaning?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 the label too broad or too narrow?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validation step in the whole workflow.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8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Topic labels are hypotheses, not facts — always validate with real documents.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EFFECT ESTIMATION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as Outcome Variables — estimateEffect()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5120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prevalence: Republican vs Democratic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0" cy="2606040"/>
          </a:xfrm>
          <a:prstGeom prst="line">
            <a:avLst/>
          </a:prstGeom>
          <a:noFill/>
          <a:ln w="12700">
            <a:solidFill>
              <a:srgbClr val="5D7A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17190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A8A"/>
                </a:solidFill>
              </a:rPr>
              <a:t>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War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2002536"/>
            <a:ext cx="680314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27602" y="19842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3865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&amp; Taxation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2404872"/>
            <a:ext cx="416966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4254" y="238658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2807208"/>
            <a:ext cx="230429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77717" y="278892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31912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Rights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770" y="3209544"/>
            <a:ext cx="197510" cy="201168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47288" y="31912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3593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Welfare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00477" y="3611880"/>
            <a:ext cx="482803" cy="201168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47288" y="35935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39959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&amp; Economy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79776" y="4014216"/>
            <a:ext cx="603504" cy="201168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47288" y="39959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0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More Democratic          More Republican →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15000" y="1371600"/>
            <a:ext cx="3017520" cy="3474720"/>
          </a:xfrm>
          <a:prstGeom prst="rect">
            <a:avLst/>
          </a:prstGeom>
          <a:solidFill>
            <a:srgbClr val="0A1F35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5216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18288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effects &lt;- estimateEffect(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formula = 1:10 ~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party + s(year),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stmobj   = sotu_stm,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metadata = out$meta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plot(effects,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covariate = "party",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topics = 1:10,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"difference",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cov.value1 = "Republican",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cov.value2 = "Democratic"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8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Party and era are correlated — interpret partisan differences with caution.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Topic Model Any Good? A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39776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56032" cy="256032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26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FREX words cohere?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75564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top 8 FREX words for each topic. Can you give it a 2–3 word label? If not, the topic may be noise.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487168"/>
            <a:ext cx="39776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256032" cy="256032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5420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representative docs match?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87121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top 3 documents per topic. Do they actually discuss what you labelled? Revise labels where they don't.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602736"/>
            <a:ext cx="39776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3922776"/>
            <a:ext cx="256032" cy="256032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topics distinct?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98678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topic correlation matrix. High pairwise correlations suggest topics are too similar — consider reducing 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39776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1691640"/>
            <a:ext cx="256032" cy="256032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1426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effects make sense?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175564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covariate effects align with theoretical expectations? Unexpected results need deeper investigation, not dismissal.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487168"/>
            <a:ext cx="39776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807208"/>
            <a:ext cx="256032" cy="256032"/>
          </a:xfrm>
          <a:prstGeom prst="ellipse">
            <a:avLst/>
          </a:prstGeom>
          <a:solidFill>
            <a:srgbClr val="E08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66360" y="25420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results stable?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87121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with different random seeds. Do topic structures and effect estimates replicate? Instability is a warning sign.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602736"/>
            <a:ext cx="39776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922776"/>
            <a:ext cx="256032" cy="256032"/>
          </a:xfrm>
          <a:prstGeom prst="ellipse">
            <a:avLst/>
          </a:prstGeom>
          <a:solidFill>
            <a:srgbClr val="E08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3657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checked K±3?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398678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with K-3 and K+3. If the story changes substantially, your findings may be K-dependent rather than substantive.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81888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= do before reporting   🟠 = do before claiming robustness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in Action: Guardian News 2013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8321040" cy="731520"/>
          </a:xfrm>
          <a:prstGeom prst="rect">
            <a:avLst/>
          </a:prstGeom>
          <a:solidFill>
            <a:srgbClr val="D6EAF0"/>
          </a:solidFill>
          <a:ln w="6350">
            <a:solidFill>
              <a:srgbClr val="D8E8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~1,500 Guardian articles · Jan–Dec 2013 · Sections: Politics, World, Society, Environment, Business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Covariates: section + month  ·  K = 15  ·  Each article averages ~600 words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21945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29000" y="21945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21945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06640" y="21945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Politics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2532888"/>
            <a:ext cx="1188720" cy="32004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03120" y="2532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29000" y="2532888"/>
            <a:ext cx="1188720" cy="320040"/>
          </a:xfrm>
          <a:prstGeom prst="rect">
            <a:avLst/>
          </a:prstGeom>
          <a:solidFill>
            <a:srgbClr val="84C0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2532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2532888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532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0760" y="2532888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2532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06640" y="2532888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2532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Austerity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03120" y="2962656"/>
            <a:ext cx="1188720" cy="320040"/>
          </a:xfrm>
          <a:prstGeom prst="rect">
            <a:avLst/>
          </a:prstGeom>
          <a:solidFill>
            <a:srgbClr val="84C0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03120" y="2962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29000" y="2962656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29000" y="2962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962656"/>
            <a:ext cx="1188720" cy="32004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2962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80760" y="2962656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0760" y="2962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06640" y="2962656"/>
            <a:ext cx="1188720" cy="320040"/>
          </a:xfrm>
          <a:prstGeom prst="rect">
            <a:avLst/>
          </a:prstGeom>
          <a:solidFill>
            <a:srgbClr val="84C0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06640" y="2962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401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&amp; Energy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03120" y="3392424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03120" y="33924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29000" y="3392424"/>
            <a:ext cx="1188720" cy="320040"/>
          </a:xfrm>
          <a:prstGeom prst="rect">
            <a:avLst/>
          </a:prstGeom>
          <a:solidFill>
            <a:srgbClr val="84C0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29000" y="33924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392424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33924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3392424"/>
            <a:ext cx="1188720" cy="32004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80760" y="33924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06640" y="3392424"/>
            <a:ext cx="1188720" cy="320040"/>
          </a:xfrm>
          <a:prstGeom prst="rect">
            <a:avLst/>
          </a:prstGeom>
          <a:solidFill>
            <a:srgbClr val="84C0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06640" y="33924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38313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03120" y="3822192"/>
            <a:ext cx="1188720" cy="32004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10312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429000" y="3822192"/>
            <a:ext cx="1188720" cy="320040"/>
          </a:xfrm>
          <a:prstGeom prst="rect">
            <a:avLst/>
          </a:prstGeom>
          <a:solidFill>
            <a:srgbClr val="84C0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2900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3822192"/>
            <a:ext cx="1188720" cy="320040"/>
          </a:xfrm>
          <a:prstGeom prst="rect">
            <a:avLst/>
          </a:prstGeom>
          <a:solidFill>
            <a:srgbClr val="84C0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80760" y="3822192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8076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06640" y="3822192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40664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42611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03120" y="4251960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0312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429000" y="4251960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2900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54880" y="4251960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5488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80760" y="4251960"/>
            <a:ext cx="1188720" cy="320040"/>
          </a:xfrm>
          <a:prstGeom prst="rect">
            <a:avLst/>
          </a:prstGeom>
          <a:solidFill>
            <a:srgbClr val="D6EA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08076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406640" y="4251960"/>
            <a:ext cx="1188720" cy="320040"/>
          </a:xfrm>
          <a:prstGeom prst="rect">
            <a:avLst/>
          </a:prstGeom>
          <a:solidFill>
            <a:srgbClr val="1B7A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0664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between topic label and section is a built-in validity check: 'UK Politics' should load high on the Politics section, not on Environment.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vs STM: When to Use Which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307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32120" y="1307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8321040" cy="438912"/>
          </a:xfrm>
          <a:prstGeom prst="rect">
            <a:avLst/>
          </a:prstGeom>
          <a:solidFill>
            <a:srgbClr val="F4F8FA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metadata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7647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7647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prevalence covariates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2219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correlations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221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independent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32120" y="22219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via covariance structure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651760"/>
            <a:ext cx="8321040" cy="438912"/>
          </a:xfrm>
          <a:prstGeom prst="rect">
            <a:avLst/>
          </a:prstGeom>
          <a:solidFill>
            <a:srgbClr val="F4F8FA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679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estimation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26791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26791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estimateEffect() → regression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10896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136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variation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31363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 for all groups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31363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can vary by covariate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66160"/>
            <a:ext cx="8321040" cy="438912"/>
          </a:xfrm>
          <a:prstGeom prst="rect">
            <a:avLst/>
          </a:prstGeom>
          <a:solidFill>
            <a:srgbClr val="F4F8FA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593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600" y="3593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3593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02336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0507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14600" y="40507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first pass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metadata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40507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science research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metadata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4480560"/>
            <a:ext cx="8321040" cy="438912"/>
          </a:xfrm>
          <a:prstGeom prst="rect">
            <a:avLst/>
          </a:prstGeom>
          <a:solidFill>
            <a:srgbClr val="F4F8FA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5079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package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14600" y="4507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topicmodels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32120" y="45079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AAF9F"/>
          </a:solidFill>
          <a:ln w="12700">
            <a:solidFill>
              <a:srgbClr val="2AA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457200" cy="457200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17043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models are inductive — the model discovers themes from word co-occurrence patterns. You bring the interpretation.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75104"/>
            <a:ext cx="457200" cy="457200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is the foundation. STM is the social science upgrade: it connects topic prevalence to document metadata (party, year, section).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724912"/>
            <a:ext cx="457200" cy="457200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670048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is a joint statistical and substantive decision. Use searchK() diagnostics, then read the documents.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457200" cy="457200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19856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FREX words are your best labelling tool. Always validate labels by reading representative documents with findThoughts().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224528"/>
            <a:ext cx="457200" cy="457200"/>
          </a:xfrm>
          <a:prstGeom prst="ellipse">
            <a:avLst/>
          </a:prstGeom>
          <a:solidFill>
            <a:srgbClr val="2AA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estimates are regression coefficients — report them with confidence intervals and be explicit about confounds like the era–party correlation.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8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for Social Scientists · Week 3 · Corvinus University of Budapest 2025/2026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1946</Words>
  <Application>Microsoft Macintosh PowerPoint</Application>
  <PresentationFormat>On-screen Show (16:9)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Modelling for Social Scientists</dc:title>
  <dc:subject>PptxGenJS Presentation</dc:subject>
  <dc:creator>Bence Ságvári</dc:creator>
  <cp:lastModifiedBy>Ságvári Bence</cp:lastModifiedBy>
  <cp:revision>2</cp:revision>
  <dcterms:created xsi:type="dcterms:W3CDTF">2026-05-03T20:07:21Z</dcterms:created>
  <dcterms:modified xsi:type="dcterms:W3CDTF">2026-05-04T07:48:09Z</dcterms:modified>
</cp:coreProperties>
</file>